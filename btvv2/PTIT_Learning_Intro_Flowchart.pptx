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12D"/>
                </a:solidFill>
                <a:latin typeface="Arial"/>
              </a:defRPr>
            </a:pPr>
            <a:r>
              <a:t>PTIT-LEARNING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LỚP HỌC 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83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E6F2"/>
                </a:solidFill>
                <a:latin typeface="Arial"/>
              </a:defRPr>
            </a:pPr>
            <a:r>
              <a:t>Học tập trực tuyến — kết nối học viên và giảng viên trong một không gian thống nhất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80360"/>
            <a:ext cx="3429000" cy="1600200"/>
          </a:xfrm>
          <a:prstGeom prst="roundRect">
            <a:avLst/>
          </a:prstGeom>
          <a:solidFill>
            <a:srgbClr val="182E4E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912D"/>
                </a:solidFill>
                <a:latin typeface="Arial"/>
              </a:defRPr>
            </a:pPr>
            <a:r>
              <a:t>01  LỊCH HỌC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Xem lịch, thông báo và liên kết tham gia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880360"/>
            <a:ext cx="3429000" cy="1600200"/>
          </a:xfrm>
          <a:prstGeom prst="roundRect">
            <a:avLst/>
          </a:prstGeom>
          <a:solidFill>
            <a:srgbClr val="182E4E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912D"/>
                </a:solidFill>
                <a:latin typeface="Arial"/>
              </a:defRPr>
            </a:pPr>
            <a:r>
              <a:t>02  TƯƠNG TÁC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Trao đổi câu hỏi và chia sẻ tài liệu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880360"/>
            <a:ext cx="3429000" cy="1600200"/>
          </a:xfrm>
          <a:prstGeom prst="roundRect">
            <a:avLst/>
          </a:prstGeom>
          <a:solidFill>
            <a:srgbClr val="182E4E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912D"/>
                </a:solidFill>
                <a:latin typeface="Arial"/>
              </a:defRPr>
            </a:pPr>
            <a:r>
              <a:t>03  ĐIỂM DANH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Theo dõi trạng thái tham dự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MỤC TIÊU: học dễ dàng • tương tác rõ ràng • theo dõi minh bạch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E6F2"/>
                </a:solidFill>
                <a:latin typeface="Arial"/>
              </a:defRPr>
            </a:pPr>
            <a:r>
              <a:t>PTIT-Learning | SRS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LỘ TRÌNH HỌC TẬP TRỰC TUYẾN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6F2"/>
                </a:solidFill>
                <a:latin typeface="Arial"/>
              </a:defRPr>
            </a:pPr>
            <a:r>
              <a:t>Bố cục 3 vùng: tiêu đề • quy trình chính • kết luận/bước tiếp theo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1874519" cy="1143000"/>
          </a:xfrm>
          <a:prstGeom prst="roundRect">
            <a:avLst/>
          </a:prstGeom>
          <a:solidFill>
            <a:srgbClr val="182E4E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  Đăng nhập</a:t>
            </a:r>
          </a:p>
        </p:txBody>
      </p:sp>
      <p:sp>
        <p:nvSpPr>
          <p:cNvPr id="5" name="Chevron 4"/>
          <p:cNvSpPr/>
          <p:nvPr/>
        </p:nvSpPr>
        <p:spPr>
          <a:xfrm>
            <a:off x="2441448" y="2724912"/>
            <a:ext cx="292608" cy="411480"/>
          </a:xfrm>
          <a:prstGeom prst="chevron">
            <a:avLst/>
          </a:prstGeom>
          <a:solidFill>
            <a:srgbClr val="FF912D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88920" y="2377440"/>
            <a:ext cx="1874519" cy="1143000"/>
          </a:xfrm>
          <a:prstGeom prst="roundRect">
            <a:avLst/>
          </a:prstGeom>
          <a:solidFill>
            <a:srgbClr val="182E4E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  Chọn khóa học</a:t>
            </a:r>
          </a:p>
        </p:txBody>
      </p:sp>
      <p:sp>
        <p:nvSpPr>
          <p:cNvPr id="7" name="Chevron 6"/>
          <p:cNvSpPr/>
          <p:nvPr/>
        </p:nvSpPr>
        <p:spPr>
          <a:xfrm>
            <a:off x="4727448" y="2724912"/>
            <a:ext cx="292608" cy="411480"/>
          </a:xfrm>
          <a:prstGeom prst="chevron">
            <a:avLst/>
          </a:prstGeom>
          <a:solidFill>
            <a:srgbClr val="FF912D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74920" y="2377440"/>
            <a:ext cx="1874519" cy="1143000"/>
          </a:xfrm>
          <a:prstGeom prst="roundRect">
            <a:avLst/>
          </a:prstGeom>
          <a:solidFill>
            <a:srgbClr val="182E4E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  Đăng ký lớp</a:t>
            </a:r>
          </a:p>
        </p:txBody>
      </p:sp>
      <p:sp>
        <p:nvSpPr>
          <p:cNvPr id="9" name="Chevron 8"/>
          <p:cNvSpPr/>
          <p:nvPr/>
        </p:nvSpPr>
        <p:spPr>
          <a:xfrm>
            <a:off x="7013448" y="2724912"/>
            <a:ext cx="292608" cy="411480"/>
          </a:xfrm>
          <a:prstGeom prst="chevron">
            <a:avLst/>
          </a:prstGeom>
          <a:solidFill>
            <a:srgbClr val="FF912D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2377440"/>
            <a:ext cx="1874519" cy="1143000"/>
          </a:xfrm>
          <a:prstGeom prst="roundRect">
            <a:avLst/>
          </a:prstGeom>
          <a:solidFill>
            <a:srgbClr val="182E4E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  Tham gia buổi học</a:t>
            </a:r>
          </a:p>
        </p:txBody>
      </p:sp>
      <p:sp>
        <p:nvSpPr>
          <p:cNvPr id="11" name="Chevron 10"/>
          <p:cNvSpPr/>
          <p:nvPr/>
        </p:nvSpPr>
        <p:spPr>
          <a:xfrm>
            <a:off x="9299448" y="2724912"/>
            <a:ext cx="292608" cy="411480"/>
          </a:xfrm>
          <a:prstGeom prst="chevron">
            <a:avLst/>
          </a:prstGeom>
          <a:solidFill>
            <a:srgbClr val="FF912D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46920" y="2377440"/>
            <a:ext cx="1874519" cy="1143000"/>
          </a:xfrm>
          <a:prstGeom prst="roundRect">
            <a:avLst/>
          </a:prstGeom>
          <a:solidFill>
            <a:srgbClr val="182E4E"/>
          </a:solidFill>
          <a:ln>
            <a:solidFill>
              <a:srgbClr val="F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5  Hoàn thành &amp; phản hồi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E6F2"/>
                </a:solidFill>
                <a:latin typeface="Arial"/>
              </a:defRPr>
            </a:pPr>
            <a:r>
              <a:t>Nếu chưa đăng ký → quay lại bước 2. Nếu gặp lỗi kết nối → thử tham gia lại hoặc liên hệ hỗ trợ.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12D"/>
                </a:solidFill>
                <a:latin typeface="Arial"/>
              </a:defRPr>
            </a:pPr>
            <a:r>
              <a:t>KẾT QUẢ: học viên tham gia đúng lớp, theo dõi tiến độ và hoàn thành nội dung.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